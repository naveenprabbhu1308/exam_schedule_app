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1" r:id="rId1"/>
    <p:sldMasterId id="2147483672" r:id="rId2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9" r:id="rId8"/>
    <p:sldId id="262" r:id="rId9"/>
    <p:sldId id="263" r:id="rId10"/>
    <p:sldId id="264" r:id="rId11"/>
    <p:sldId id="265" r:id="rId12"/>
    <p:sldId id="267" r:id="rId13"/>
    <p:sldId id="266" r:id="rId14"/>
    <p:sldId id="270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0F0D55-5B8A-42EB-891A-89514031CCDD}" v="1" dt="2026-02-16T04:38:51.980"/>
  </p1510:revLst>
</p1510:revInfo>
</file>

<file path=ppt/tableStyles.xml><?xml version="1.0" encoding="utf-8"?>
<a:tblStyleLst xmlns:a="http://schemas.openxmlformats.org/drawingml/2006/main" def="{175241B2-2280-48FF-964A-6480690A5503}">
  <a:tblStyle styleId="{175241B2-2280-48FF-964A-6480690A550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tcBdr/>
        <a:fill>
          <a:solidFill>
            <a:srgbClr val="D0DEEF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0DEEF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78ed75c81_2_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4" name="Google Shape;134;g3c78ed75c81_2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78ed75c81_2_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g3c78ed75c81_2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78ed75c81_2_1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3c78ed75c81_2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78ed75c81_2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c78ed75c81_2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c7d4d478e5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g3c7d4d478e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c78ed75c81_2_1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g3c78ed75c81_2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c7b480a328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4" name="Google Shape;204;g3c7b480a328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c7b480a328_0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" name="Google Shape;214;g3c7b480a328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c7b480a328_0_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4" name="Google Shape;224;g3c7b480a328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>
          <a:extLst>
            <a:ext uri="{FF2B5EF4-FFF2-40B4-BE49-F238E27FC236}">
              <a16:creationId xmlns:a16="http://schemas.microsoft.com/office/drawing/2014/main" id="{B0DF4182-5429-1025-C086-B41002F28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c7b480a328_0_53:notes">
            <a:extLst>
              <a:ext uri="{FF2B5EF4-FFF2-40B4-BE49-F238E27FC236}">
                <a16:creationId xmlns:a16="http://schemas.microsoft.com/office/drawing/2014/main" id="{333179FE-0D19-E3FF-4759-31E4BF885A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4" name="Google Shape;224;g3c7b480a328_0_53:notes">
            <a:extLst>
              <a:ext uri="{FF2B5EF4-FFF2-40B4-BE49-F238E27FC236}">
                <a16:creationId xmlns:a16="http://schemas.microsoft.com/office/drawing/2014/main" id="{B05B2961-F48A-36EA-853B-67C001CB55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004859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c78ed75c81_2_2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4" name="Google Shape;234;g3c78ed75c81_2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 1">
  <p:cSld name="Title and Content">
    <p:bg>
      <p:bgPr>
        <a:solidFill>
          <a:schemeClr val="lt1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/>
          <p:nvPr/>
        </p:nvSpPr>
        <p:spPr>
          <a:xfrm>
            <a:off x="628649" y="581891"/>
            <a:ext cx="8006239" cy="4083844"/>
          </a:xfrm>
          <a:custGeom>
            <a:avLst/>
            <a:gdLst/>
            <a:ahLst/>
            <a:cxnLst/>
            <a:rect l="l" t="t" r="r" b="b"/>
            <a:pathLst>
              <a:path w="10674985" h="5445125" extrusionOk="0">
                <a:moveTo>
                  <a:pt x="0" y="0"/>
                </a:moveTo>
                <a:lnTo>
                  <a:pt x="10674926" y="0"/>
                </a:lnTo>
                <a:lnTo>
                  <a:pt x="10674926" y="5444835"/>
                </a:lnTo>
                <a:lnTo>
                  <a:pt x="0" y="5444835"/>
                </a:lnTo>
                <a:lnTo>
                  <a:pt x="0" y="0"/>
                </a:lnTo>
                <a:close/>
              </a:path>
            </a:pathLst>
          </a:cu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27" name="Google Shape;127;p25"/>
          <p:cNvSpPr txBox="1">
            <a:spLocks noGrp="1"/>
          </p:cNvSpPr>
          <p:nvPr>
            <p:ph type="title"/>
          </p:nvPr>
        </p:nvSpPr>
        <p:spPr>
          <a:xfrm>
            <a:off x="1713011" y="180681"/>
            <a:ext cx="5717925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300"/>
              <a:buNone/>
              <a:defRPr sz="1800" b="1" i="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5"/>
          <p:cNvSpPr txBox="1">
            <a:spLocks noGrp="1"/>
          </p:cNvSpPr>
          <p:nvPr>
            <p:ph type="body" idx="1"/>
          </p:nvPr>
        </p:nvSpPr>
        <p:spPr>
          <a:xfrm>
            <a:off x="595313" y="1229052"/>
            <a:ext cx="7650450" cy="31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21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5"/>
          <p:cNvSpPr txBox="1">
            <a:spLocks noGrp="1"/>
          </p:cNvSpPr>
          <p:nvPr>
            <p:ph type="ftr" idx="11"/>
          </p:nvPr>
        </p:nvSpPr>
        <p:spPr>
          <a:xfrm>
            <a:off x="3879549" y="4850082"/>
            <a:ext cx="1383975" cy="1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dt" idx="10"/>
          </p:nvPr>
        </p:nvSpPr>
        <p:spPr>
          <a:xfrm>
            <a:off x="683419" y="4827794"/>
            <a:ext cx="818100" cy="1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1" i="0">
                <a:solidFill>
                  <a:srgbClr val="37552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5"/>
          <p:cNvSpPr txBox="1">
            <a:spLocks noGrp="1"/>
          </p:cNvSpPr>
          <p:nvPr>
            <p:ph type="sldNum" idx="12"/>
          </p:nvPr>
        </p:nvSpPr>
        <p:spPr>
          <a:xfrm>
            <a:off x="8306618" y="4827794"/>
            <a:ext cx="182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3500" lvl="0" indent="0">
              <a:lnSpc>
                <a:spcPct val="100555"/>
              </a:lnSpc>
              <a:spcBef>
                <a:spcPts val="0"/>
              </a:spcBef>
              <a:buNone/>
              <a:defRPr sz="1400" b="1" i="0">
                <a:solidFill>
                  <a:srgbClr val="37552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3500" lvl="1" indent="0">
              <a:lnSpc>
                <a:spcPct val="100555"/>
              </a:lnSpc>
              <a:spcBef>
                <a:spcPts val="0"/>
              </a:spcBef>
              <a:buNone/>
              <a:defRPr sz="1400" b="1" i="0">
                <a:solidFill>
                  <a:srgbClr val="37552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3500" lvl="2" indent="0">
              <a:lnSpc>
                <a:spcPct val="100555"/>
              </a:lnSpc>
              <a:spcBef>
                <a:spcPts val="0"/>
              </a:spcBef>
              <a:buNone/>
              <a:defRPr sz="1400" b="1" i="0">
                <a:solidFill>
                  <a:srgbClr val="37552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3500" lvl="3" indent="0">
              <a:lnSpc>
                <a:spcPct val="100555"/>
              </a:lnSpc>
              <a:spcBef>
                <a:spcPts val="0"/>
              </a:spcBef>
              <a:buNone/>
              <a:defRPr sz="1400" b="1" i="0">
                <a:solidFill>
                  <a:srgbClr val="37552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63500" lvl="4" indent="0">
              <a:lnSpc>
                <a:spcPct val="100555"/>
              </a:lnSpc>
              <a:spcBef>
                <a:spcPts val="0"/>
              </a:spcBef>
              <a:buNone/>
              <a:defRPr sz="1400" b="1" i="0">
                <a:solidFill>
                  <a:srgbClr val="37552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63500" lvl="5" indent="0">
              <a:lnSpc>
                <a:spcPct val="100555"/>
              </a:lnSpc>
              <a:spcBef>
                <a:spcPts val="0"/>
              </a:spcBef>
              <a:buNone/>
              <a:defRPr sz="1400" b="1" i="0">
                <a:solidFill>
                  <a:srgbClr val="37552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63500" lvl="6" indent="0">
              <a:lnSpc>
                <a:spcPct val="100555"/>
              </a:lnSpc>
              <a:spcBef>
                <a:spcPts val="0"/>
              </a:spcBef>
              <a:buNone/>
              <a:defRPr sz="1400" b="1" i="0">
                <a:solidFill>
                  <a:srgbClr val="37552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63500" lvl="7" indent="0">
              <a:lnSpc>
                <a:spcPct val="100555"/>
              </a:lnSpc>
              <a:spcBef>
                <a:spcPts val="0"/>
              </a:spcBef>
              <a:buNone/>
              <a:defRPr sz="1400" b="1" i="0">
                <a:solidFill>
                  <a:srgbClr val="37552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63500" lvl="8" indent="0">
              <a:lnSpc>
                <a:spcPct val="100555"/>
              </a:lnSpc>
              <a:spcBef>
                <a:spcPts val="0"/>
              </a:spcBef>
              <a:buNone/>
              <a:defRPr sz="1400" b="1" i="0">
                <a:solidFill>
                  <a:srgbClr val="37552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35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>
              <a:solidFill>
                <a:srgbClr val="888888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react.j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Relationship Id="rId4" Type="http://schemas.openxmlformats.org/officeDocument/2006/relationships/hyperlink" Target="http://express.js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design/qBSUHYNvcIMzMY2abdibqP/Exam-Schedule-App?node-id=0-1&amp;p=f&amp;t=7oArZWt0z6pSrXh7-0" TargetMode="External"/><Relationship Id="rId2" Type="http://schemas.openxmlformats.org/officeDocument/2006/relationships/hyperlink" Target="https://github.com/Naveenprabbhu1308/Exam_Schedule_App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>
            <a:spLocks noGrp="1"/>
          </p:cNvSpPr>
          <p:nvPr>
            <p:ph type="ctrTitle"/>
          </p:nvPr>
        </p:nvSpPr>
        <p:spPr>
          <a:xfrm>
            <a:off x="1377024" y="1071738"/>
            <a:ext cx="6858000" cy="7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None/>
            </a:pPr>
            <a:r>
              <a:rPr lang="en" sz="1400" b="1">
                <a:latin typeface="Cambria"/>
                <a:ea typeface="Cambria"/>
                <a:cs typeface="Cambria"/>
                <a:sym typeface="Cambria"/>
              </a:rPr>
              <a:t>Academic Year 2025 - 26 </a:t>
            </a:r>
            <a:br>
              <a:rPr lang="en" sz="1400" b="1">
                <a:latin typeface="Cambria"/>
                <a:ea typeface="Cambria"/>
                <a:cs typeface="Cambria"/>
                <a:sym typeface="Cambria"/>
              </a:rPr>
            </a:br>
            <a:r>
              <a:rPr lang="en" sz="1400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 MINI PROJECT </a:t>
            </a:r>
            <a:br>
              <a:rPr lang="en" sz="1400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" sz="1400" b="1">
                <a:latin typeface="Cambria"/>
                <a:ea typeface="Cambria"/>
                <a:cs typeface="Cambria"/>
                <a:sym typeface="Cambria"/>
              </a:rPr>
              <a:t>Phase - 1 Review </a:t>
            </a:r>
            <a:endParaRPr sz="14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7" name="Google Shape;137;p26"/>
          <p:cNvSpPr txBox="1">
            <a:spLocks noGrp="1"/>
          </p:cNvSpPr>
          <p:nvPr>
            <p:ph type="subTitle" idx="1"/>
          </p:nvPr>
        </p:nvSpPr>
        <p:spPr>
          <a:xfrm>
            <a:off x="1377024" y="1884055"/>
            <a:ext cx="6858000" cy="9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1800"/>
              <a:buNone/>
            </a:pPr>
            <a:r>
              <a:rPr lang="en" b="1" dirty="0">
                <a:solidFill>
                  <a:srgbClr val="385623"/>
                </a:solidFill>
                <a:latin typeface="Cambria"/>
                <a:ea typeface="Cambria"/>
                <a:cs typeface="Cambria"/>
                <a:sym typeface="Cambria"/>
              </a:rPr>
              <a:t>PROJECT TITLE</a:t>
            </a:r>
            <a:endParaRPr b="1" dirty="0">
              <a:solidFill>
                <a:srgbClr val="385623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 SCHEDULE WEB APP </a:t>
            </a:r>
            <a:endParaRPr b="1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50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500" b="1" dirty="0">
              <a:solidFill>
                <a:srgbClr val="7030A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500" b="1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38" name="Google Shape;138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83326" y="19228"/>
            <a:ext cx="5756565" cy="98147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6"/>
          <p:cNvSpPr txBox="1"/>
          <p:nvPr/>
        </p:nvSpPr>
        <p:spPr>
          <a:xfrm>
            <a:off x="2845970" y="2977892"/>
            <a:ext cx="3920100" cy="10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030A0"/>
              </a:buClr>
              <a:buSzPts val="1400"/>
              <a:buFont typeface="Arial"/>
              <a:buNone/>
            </a:pPr>
            <a:r>
              <a:rPr lang="en" sz="1200" b="1" dirty="0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>NAVEENPRABHU S </a:t>
            </a:r>
            <a:endParaRPr sz="1200" b="1" dirty="0">
              <a:solidFill>
                <a:srgbClr val="7030A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7030A0"/>
              </a:buClr>
              <a:buSzPts val="1400"/>
              <a:buFont typeface="Arial"/>
              <a:buNone/>
            </a:pPr>
            <a:r>
              <a:rPr lang="en" sz="1200" b="1" dirty="0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>7376231MZ126</a:t>
            </a:r>
            <a:endParaRPr sz="120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200" b="1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0" name="Google Shape;140;p26"/>
          <p:cNvSpPr txBox="1"/>
          <p:nvPr/>
        </p:nvSpPr>
        <p:spPr>
          <a:xfrm>
            <a:off x="5078441" y="3844636"/>
            <a:ext cx="3774600" cy="108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400"/>
              <a:buFont typeface="Arial"/>
              <a:buNone/>
            </a:pPr>
            <a:endParaRPr sz="1800" b="1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1" name="Google Shape;141;p26"/>
          <p:cNvSpPr txBox="1"/>
          <p:nvPr/>
        </p:nvSpPr>
        <p:spPr>
          <a:xfrm>
            <a:off x="1084724" y="2995628"/>
            <a:ext cx="22029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2" name="Google Shape;142;p26"/>
          <p:cNvSpPr txBox="1"/>
          <p:nvPr/>
        </p:nvSpPr>
        <p:spPr>
          <a:xfrm>
            <a:off x="4249883" y="2977893"/>
            <a:ext cx="46032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>
            <a:spLocks noGrp="1"/>
          </p:cNvSpPr>
          <p:nvPr>
            <p:ph type="body" idx="1"/>
          </p:nvPr>
        </p:nvSpPr>
        <p:spPr>
          <a:xfrm>
            <a:off x="628650" y="737755"/>
            <a:ext cx="7886700" cy="3894968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1800" b="1" dirty="0">
                <a:solidFill>
                  <a:srgbClr val="4BACC6"/>
                </a:solidFill>
                <a:latin typeface="Cambria"/>
                <a:ea typeface="Cambria"/>
                <a:cs typeface="Cambria"/>
                <a:sym typeface="Cambria"/>
              </a:rPr>
              <a:t>AIM : </a:t>
            </a:r>
            <a:endParaRPr sz="1800" b="1" dirty="0">
              <a:solidFill>
                <a:srgbClr val="4BACC6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lvl="0" indent="-323850">
              <a:lnSpc>
                <a:spcPct val="100000"/>
              </a:lnSpc>
              <a:spcBef>
                <a:spcPts val="700"/>
              </a:spcBef>
              <a:buSzPts val="1500"/>
              <a:buFont typeface="Cambria"/>
              <a:buChar char="•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To develop a web-based system for managing exam schedules efficiently.</a:t>
            </a:r>
            <a:r>
              <a:rPr lang="en" sz="15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Customers find it difficult to discover and shop from local businesses efficiently.</a:t>
            </a:r>
            <a:endParaRPr sz="1500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lvl="0" indent="-323850">
              <a:lnSpc>
                <a:spcPct val="100000"/>
              </a:lnSpc>
              <a:spcBef>
                <a:spcPts val="0"/>
              </a:spcBef>
              <a:buSzPts val="1500"/>
              <a:buFont typeface="Cambria"/>
              <a:buChar char="•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To create a platform for tracking student marks and academic performance.</a:t>
            </a:r>
          </a:p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To provide performance analysis and study improvement suggestions.</a:t>
            </a:r>
          </a:p>
          <a:p>
            <a:pPr marL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" sz="1800" b="1" dirty="0">
                <a:solidFill>
                  <a:srgbClr val="4BACC6"/>
                </a:solidFill>
                <a:latin typeface="Cambria"/>
                <a:ea typeface="Cambria"/>
                <a:cs typeface="Cambria"/>
                <a:sym typeface="Cambria"/>
              </a:rPr>
              <a:t>OBJECTIVE : </a:t>
            </a:r>
            <a:endParaRPr sz="1800" b="1" dirty="0">
              <a:solidFill>
                <a:srgbClr val="4BACC6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lvl="0" indent="-323850">
              <a:lnSpc>
                <a:spcPct val="100000"/>
              </a:lnSpc>
              <a:spcBef>
                <a:spcPts val="700"/>
              </a:spcBef>
              <a:buSzPts val="1500"/>
              <a:buFont typeface="Cambria"/>
              <a:buChar char="•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To allow admins to add, update, and delete exam schedules department-wise.</a:t>
            </a:r>
          </a:p>
          <a:p>
            <a:pPr lvl="0" indent="-323850">
              <a:lnSpc>
                <a:spcPct val="100000"/>
              </a:lnSpc>
              <a:spcBef>
                <a:spcPts val="700"/>
              </a:spcBef>
              <a:buSzPts val="1500"/>
              <a:buFont typeface="Cambria"/>
              <a:buChar char="•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To enable students to record, view, and analyze their marks subject-wise.</a:t>
            </a:r>
            <a:endParaRPr sz="1800" b="1" dirty="0">
              <a:solidFill>
                <a:srgbClr val="4BACC6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148" name="Google Shape;148;p2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 b="1">
                <a:solidFill>
                  <a:srgbClr val="385623"/>
                </a:solidFill>
              </a:rPr>
              <a:t>PHASE-1 REVIEW PRESENTATION</a:t>
            </a:r>
            <a:endParaRPr sz="1400" b="1">
              <a:solidFill>
                <a:srgbClr val="385623"/>
              </a:solidFill>
            </a:endParaRPr>
          </a:p>
        </p:txBody>
      </p:sp>
      <p:sp>
        <p:nvSpPr>
          <p:cNvPr id="149" name="Google Shape;149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 sz="1400" b="1">
                <a:solidFill>
                  <a:srgbClr val="385623"/>
                </a:solidFill>
              </a:rPr>
              <a:t>2</a:t>
            </a:fld>
            <a:endParaRPr sz="1400" b="1">
              <a:solidFill>
                <a:srgbClr val="385623"/>
              </a:solidFill>
            </a:endParaRPr>
          </a:p>
        </p:txBody>
      </p:sp>
      <p:sp>
        <p:nvSpPr>
          <p:cNvPr id="150" name="Google Shape;150;p27"/>
          <p:cNvSpPr txBox="1">
            <a:spLocks noGrp="1"/>
          </p:cNvSpPr>
          <p:nvPr>
            <p:ph type="title"/>
          </p:nvPr>
        </p:nvSpPr>
        <p:spPr>
          <a:xfrm>
            <a:off x="628650" y="180326"/>
            <a:ext cx="7886700" cy="43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mbria"/>
              <a:buNone/>
            </a:pPr>
            <a:r>
              <a:rPr lang="en" sz="1800" b="1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AIM &amp; OBJECTIVES OF THE PROJECT </a:t>
            </a:r>
            <a:br>
              <a:rPr lang="en" sz="1800" b="1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" sz="1800" b="1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(Problem Statement)</a:t>
            </a:r>
            <a:endParaRPr sz="1800" b="1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>
            <a:spLocks noGrp="1"/>
          </p:cNvSpPr>
          <p:nvPr>
            <p:ph type="title"/>
          </p:nvPr>
        </p:nvSpPr>
        <p:spPr>
          <a:xfrm>
            <a:off x="628650" y="126574"/>
            <a:ext cx="7886700" cy="2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Cambria"/>
              <a:buNone/>
            </a:pPr>
            <a:r>
              <a:rPr lang="en" sz="2700" b="1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LITERATURE SURVEY </a:t>
            </a:r>
            <a:endParaRPr sz="2700" b="1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6" name="Google Shape;156;p28"/>
          <p:cNvSpPr txBox="1">
            <a:spLocks noGrp="1"/>
          </p:cNvSpPr>
          <p:nvPr>
            <p:ph type="ftr" idx="11"/>
          </p:nvPr>
        </p:nvSpPr>
        <p:spPr>
          <a:xfrm>
            <a:off x="3184816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FIRST REVIEW PRESENTATION</a:t>
            </a:r>
            <a:endParaRPr sz="1400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7" name="Google Shape;157;p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 sz="1400">
                <a:solidFill>
                  <a:srgbClr val="0070C0"/>
                </a:solidFill>
              </a:rPr>
              <a:t>3</a:t>
            </a:fld>
            <a:endParaRPr sz="1400">
              <a:solidFill>
                <a:srgbClr val="0070C0"/>
              </a:solidFill>
            </a:endParaRPr>
          </a:p>
        </p:txBody>
      </p:sp>
      <p:graphicFrame>
        <p:nvGraphicFramePr>
          <p:cNvPr id="158" name="Google Shape;158;p28"/>
          <p:cNvGraphicFramePr/>
          <p:nvPr>
            <p:extLst>
              <p:ext uri="{D42A27DB-BD31-4B8C-83A1-F6EECF244321}">
                <p14:modId xmlns:p14="http://schemas.microsoft.com/office/powerpoint/2010/main" val="501157559"/>
              </p:ext>
            </p:extLst>
          </p:nvPr>
        </p:nvGraphicFramePr>
        <p:xfrm>
          <a:off x="628650" y="446259"/>
          <a:ext cx="8210547" cy="4191040"/>
        </p:xfrm>
        <a:graphic>
          <a:graphicData uri="http://schemas.openxmlformats.org/drawingml/2006/table">
            <a:tbl>
              <a:tblPr firstRow="1" bandRow="1">
                <a:noFill/>
                <a:tableStyleId>{175241B2-2280-48FF-964A-6480690A5503}</a:tableStyleId>
              </a:tblPr>
              <a:tblGrid>
                <a:gridCol w="747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2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30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0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66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</a:rPr>
                        <a:t>Sl.No.</a:t>
                      </a:r>
                      <a:endParaRPr sz="1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 dirty="0">
                          <a:solidFill>
                            <a:schemeClr val="dk1"/>
                          </a:solidFill>
                        </a:rPr>
                        <a:t>Journal Paper Title with Author </a:t>
                      </a:r>
                      <a:endParaRPr sz="1400" b="1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</a:rPr>
                        <a:t>Works carried out  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</a:rPr>
                        <a:t>( with details of Methods/ Materials/ Software/ Algorithms / fabrication / techniques/ components used ) </a:t>
                      </a:r>
                      <a:endParaRPr sz="1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</a:rPr>
                        <a:t>Information gathered relevant to your project</a:t>
                      </a:r>
                      <a:endParaRPr sz="1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547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highlight>
                            <a:srgbClr val="BBD6EE"/>
                          </a:highlight>
                        </a:rPr>
                        <a:t>Anil Kumar, S. Ramesh, P. Venkatesh</a:t>
                      </a:r>
                    </a:p>
                    <a:p>
                      <a:r>
                        <a:rPr lang="en-US" sz="1400" b="1" dirty="0">
                          <a:highlight>
                            <a:srgbClr val="BBD6EE"/>
                          </a:highlight>
                        </a:rPr>
                        <a:t>Title:</a:t>
                      </a:r>
                      <a:r>
                        <a:rPr lang="en-US" sz="1400" dirty="0">
                          <a:highlight>
                            <a:srgbClr val="BBD6EE"/>
                          </a:highlight>
                        </a:rPr>
                        <a:t> Web-Based Student Information Management System</a:t>
                      </a:r>
                      <a:br>
                        <a:rPr lang="en-US" sz="1400" dirty="0">
                          <a:highlight>
                            <a:srgbClr val="BBD6EE"/>
                          </a:highlight>
                        </a:rPr>
                      </a:br>
                      <a:r>
                        <a:rPr lang="en-US" sz="1400" b="1" dirty="0">
                          <a:highlight>
                            <a:srgbClr val="BBD6EE"/>
                          </a:highlight>
                        </a:rPr>
                        <a:t>Year:</a:t>
                      </a:r>
                      <a:r>
                        <a:rPr lang="en-US" sz="1400" dirty="0">
                          <a:highlight>
                            <a:srgbClr val="BBD6EE"/>
                          </a:highlight>
                        </a:rPr>
                        <a:t> 2021</a:t>
                      </a: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Developed a web-based academic management system</a:t>
                      </a:r>
                    </a:p>
                    <a:p>
                      <a:r>
                        <a:rPr lang="en-IN" dirty="0"/>
                        <a:t>Frontend using HTML, CSS, JavaScript</a:t>
                      </a:r>
                    </a:p>
                    <a:p>
                      <a:r>
                        <a:rPr lang="en-IN" dirty="0"/>
                        <a:t>Backend using PHP and MySQL</a:t>
                      </a:r>
                    </a:p>
                    <a:p>
                      <a:r>
                        <a:rPr lang="en-IN" dirty="0"/>
                        <a:t>Role-based login system for Admin, Staff, and Students</a:t>
                      </a: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Importance of role-based authentication</a:t>
                      </a:r>
                    </a:p>
                    <a:p>
                      <a:r>
                        <a:rPr lang="en-US" dirty="0"/>
                        <a:t>Structured database design for academic systems</a:t>
                      </a:r>
                    </a:p>
                    <a:p>
                      <a:r>
                        <a:rPr lang="en-US" dirty="0"/>
                        <a:t>Secure login using session handling</a:t>
                      </a: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888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Priya Sharma, Rahul Verma</a:t>
                      </a:r>
                    </a:p>
                    <a:p>
                      <a:r>
                        <a:rPr lang="en-US" b="1" dirty="0"/>
                        <a:t>Title:</a:t>
                      </a:r>
                      <a:r>
                        <a:rPr lang="en-US" dirty="0"/>
                        <a:t> Secure Authentication System Using JWT in Web Applications</a:t>
                      </a:r>
                      <a:br>
                        <a:rPr lang="en-US" dirty="0"/>
                      </a:br>
                      <a:r>
                        <a:rPr lang="en-US" b="1" dirty="0"/>
                        <a:t>Year:</a:t>
                      </a:r>
                      <a:r>
                        <a:rPr lang="en-US" dirty="0"/>
                        <a:t> 2022</a:t>
                      </a: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Implemented authentication using JSON Web Tokens (JWT)</a:t>
                      </a:r>
                    </a:p>
                    <a:p>
                      <a:r>
                        <a:rPr lang="en-IN" dirty="0"/>
                        <a:t>Backend using Node.js and Express.js</a:t>
                      </a:r>
                    </a:p>
                    <a:p>
                      <a:r>
                        <a:rPr lang="en-IN" dirty="0"/>
                        <a:t>MongoDB used for storing user credentials</a:t>
                      </a:r>
                    </a:p>
                    <a:p>
                      <a:r>
                        <a:rPr lang="en-IN" dirty="0"/>
                        <a:t>Password encryption using </a:t>
                      </a:r>
                      <a:r>
                        <a:rPr lang="en-IN" dirty="0" err="1"/>
                        <a:t>bcrypt</a:t>
                      </a:r>
                      <a:endParaRPr lang="en-IN" dirty="0"/>
                    </a:p>
                    <a:p>
                      <a:r>
                        <a:rPr lang="en-IN" dirty="0"/>
                        <a:t>Token-based authorization for protected routes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dirty="0"/>
                        <a:t> </a:t>
                      </a:r>
                      <a:r>
                        <a:rPr lang="en-US" dirty="0"/>
                        <a:t>JWT is more secure and scalable than traditional sessions</a:t>
                      </a:r>
                    </a:p>
                    <a:p>
                      <a:r>
                        <a:rPr lang="en-US" dirty="0"/>
                        <a:t>Stateless authentication improves performance</a:t>
                      </a:r>
                    </a:p>
                    <a:p>
                      <a:r>
                        <a:rPr lang="en-US" dirty="0"/>
                        <a:t>Proper middleware improves API security</a:t>
                      </a:r>
                    </a:p>
                    <a:p>
                      <a:r>
                        <a:rPr lang="en-US" dirty="0"/>
                        <a:t>Password hashing is essential for data protection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/>
        </p:nvSpPr>
        <p:spPr>
          <a:xfrm>
            <a:off x="723410" y="501423"/>
            <a:ext cx="6469425" cy="30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87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9"/>
          <p:cNvSpPr txBox="1">
            <a:spLocks noGrp="1"/>
          </p:cNvSpPr>
          <p:nvPr>
            <p:ph type="dt" idx="10"/>
          </p:nvPr>
        </p:nvSpPr>
        <p:spPr>
          <a:xfrm>
            <a:off x="683419" y="4827784"/>
            <a:ext cx="94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>
                <a:solidFill>
                  <a:srgbClr val="385623"/>
                </a:solidFill>
              </a:rPr>
              <a:t>17-02-2026</a:t>
            </a:r>
            <a:endParaRPr sz="900" b="0" dirty="0">
              <a:solidFill>
                <a:srgbClr val="888888"/>
              </a:solidFill>
            </a:endParaRPr>
          </a:p>
        </p:txBody>
      </p:sp>
      <p:sp>
        <p:nvSpPr>
          <p:cNvPr id="165" name="Google Shape;165;p29"/>
          <p:cNvSpPr txBox="1">
            <a:spLocks noGrp="1"/>
          </p:cNvSpPr>
          <p:nvPr>
            <p:ph type="sldNum" idx="12"/>
          </p:nvPr>
        </p:nvSpPr>
        <p:spPr>
          <a:xfrm>
            <a:off x="8306618" y="4827794"/>
            <a:ext cx="182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350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4</a:t>
            </a:fld>
            <a:endParaRPr b="0">
              <a:solidFill>
                <a:srgbClr val="888888"/>
              </a:solidFill>
            </a:endParaRPr>
          </a:p>
        </p:txBody>
      </p:sp>
      <p:sp>
        <p:nvSpPr>
          <p:cNvPr id="166" name="Google Shape;166;p29"/>
          <p:cNvSpPr txBox="1">
            <a:spLocks noGrp="1"/>
          </p:cNvSpPr>
          <p:nvPr>
            <p:ph type="title"/>
          </p:nvPr>
        </p:nvSpPr>
        <p:spPr>
          <a:xfrm>
            <a:off x="865800" y="-34018"/>
            <a:ext cx="7802325" cy="61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475" rIns="0" bIns="0" anchor="t" anchorCtr="0">
            <a:spAutoFit/>
          </a:bodyPr>
          <a:lstStyle/>
          <a:p>
            <a:pPr marL="914400" marR="0" lvl="0" indent="-9017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F5496"/>
                </a:solidFill>
              </a:rPr>
              <a:t>CHOICE	OF	COMPONENTS / MODULES /  METHODS / TECHNIQUES EQUIPMENT USED FOR PROJECT DEVELOPMENT</a:t>
            </a:r>
            <a:endParaRPr/>
          </a:p>
        </p:txBody>
      </p:sp>
      <p:sp>
        <p:nvSpPr>
          <p:cNvPr id="167" name="Google Shape;167;p29"/>
          <p:cNvSpPr txBox="1"/>
          <p:nvPr/>
        </p:nvSpPr>
        <p:spPr>
          <a:xfrm>
            <a:off x="683419" y="971927"/>
            <a:ext cx="7917000" cy="318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1800" b="1" dirty="0">
                <a:solidFill>
                  <a:schemeClr val="accent5"/>
                </a:solidFill>
                <a:latin typeface="Cambria"/>
                <a:ea typeface="Cambria"/>
                <a:cs typeface="Cambria"/>
                <a:sym typeface="Cambria"/>
              </a:rPr>
              <a:t>COMPONENTS:</a:t>
            </a:r>
            <a:endParaRPr sz="8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Frontend Technologies Used : </a:t>
            </a:r>
            <a:endParaRPr sz="1500" b="1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mbria"/>
              <a:buChar char="●"/>
            </a:pPr>
            <a:r>
              <a:rPr lang="en" sz="15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Framework: HTML, CSS, </a:t>
            </a:r>
            <a:r>
              <a:rPr lang="en" sz="1500" u="sng" dirty="0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3"/>
              </a:rPr>
              <a:t>React.js</a:t>
            </a:r>
            <a:endParaRPr sz="15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mbria"/>
              <a:buChar char="●"/>
            </a:pPr>
            <a:r>
              <a:rPr lang="en" sz="15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Programming Language : JavaScript</a:t>
            </a:r>
            <a:endParaRPr sz="15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Backend Technologies Used</a:t>
            </a:r>
            <a:endParaRPr sz="1500" b="1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mbria"/>
              <a:buChar char="●"/>
            </a:pPr>
            <a:r>
              <a:rPr lang="en" sz="15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Backend Platform: Node.js, </a:t>
            </a:r>
            <a:r>
              <a:rPr lang="en" sz="1500" u="sng" dirty="0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Express.js</a:t>
            </a:r>
            <a:endParaRPr sz="15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mbria"/>
              <a:buChar char="●"/>
            </a:pPr>
            <a:r>
              <a:rPr lang="en" sz="15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Database: MongoDB Compass </a:t>
            </a:r>
            <a:endParaRPr sz="15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mbria"/>
              <a:buChar char="●"/>
            </a:pPr>
            <a:r>
              <a:rPr lang="en" sz="15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Authentication: JWT (JSON Web Token)</a:t>
            </a:r>
            <a:endParaRPr sz="15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mbria"/>
              <a:buChar char="●"/>
            </a:pPr>
            <a:r>
              <a:rPr lang="en" sz="15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Tools: Figma, GitHub, VS Code</a:t>
            </a:r>
            <a:endParaRPr sz="15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8" name="Google Shape;168;p2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PHASE - 1  REVIEW PRESENTATION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/>
        </p:nvSpPr>
        <p:spPr>
          <a:xfrm>
            <a:off x="723410" y="501423"/>
            <a:ext cx="64695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87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0"/>
          <p:cNvSpPr txBox="1">
            <a:spLocks noGrp="1"/>
          </p:cNvSpPr>
          <p:nvPr>
            <p:ph type="dt" idx="10"/>
          </p:nvPr>
        </p:nvSpPr>
        <p:spPr>
          <a:xfrm>
            <a:off x="683419" y="4827784"/>
            <a:ext cx="94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>
                <a:solidFill>
                  <a:srgbClr val="385623"/>
                </a:solidFill>
              </a:rPr>
              <a:t>17-02-2026</a:t>
            </a:r>
            <a:endParaRPr lang="en" sz="900" b="0" dirty="0">
              <a:solidFill>
                <a:srgbClr val="888888"/>
              </a:solidFill>
            </a:endParaRPr>
          </a:p>
        </p:txBody>
      </p:sp>
      <p:sp>
        <p:nvSpPr>
          <p:cNvPr id="175" name="Google Shape;175;p30"/>
          <p:cNvSpPr txBox="1">
            <a:spLocks noGrp="1"/>
          </p:cNvSpPr>
          <p:nvPr>
            <p:ph type="sldNum" idx="12"/>
          </p:nvPr>
        </p:nvSpPr>
        <p:spPr>
          <a:xfrm>
            <a:off x="8306618" y="4827794"/>
            <a:ext cx="18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350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5</a:t>
            </a:fld>
            <a:endParaRPr b="0">
              <a:solidFill>
                <a:srgbClr val="888888"/>
              </a:solidFill>
            </a:endParaRPr>
          </a:p>
        </p:txBody>
      </p:sp>
      <p:sp>
        <p:nvSpPr>
          <p:cNvPr id="176" name="Google Shape;176;p30"/>
          <p:cNvSpPr txBox="1">
            <a:spLocks noGrp="1"/>
          </p:cNvSpPr>
          <p:nvPr>
            <p:ph type="title"/>
          </p:nvPr>
        </p:nvSpPr>
        <p:spPr>
          <a:xfrm>
            <a:off x="779275" y="119807"/>
            <a:ext cx="78024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475" rIns="0" bIns="0" anchor="t" anchorCtr="0">
            <a:spAutoFit/>
          </a:bodyPr>
          <a:lstStyle/>
          <a:p>
            <a:pPr marL="914400" marR="0" lvl="0" indent="-901700" algn="ctr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F5496"/>
                </a:solidFill>
              </a:rPr>
              <a:t>PROPOSED METHODOLOGY</a:t>
            </a:r>
            <a:endParaRPr/>
          </a:p>
        </p:txBody>
      </p:sp>
      <p:sp>
        <p:nvSpPr>
          <p:cNvPr id="177" name="Google Shape;177;p3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PHASE - 1  REVIEW PRESENTATION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786F0D-85C9-0998-53A2-3C4ACD12B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7774" y="817524"/>
            <a:ext cx="3508452" cy="35084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3B27E-AC3A-BF95-EA90-3E21BBA91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91" y="217852"/>
            <a:ext cx="1297818" cy="249299"/>
          </a:xfrm>
        </p:spPr>
        <p:txBody>
          <a:bodyPr/>
          <a:lstStyle/>
          <a:p>
            <a:pPr algn="ctr"/>
            <a:r>
              <a:rPr lang="en-IN" dirty="0"/>
              <a:t>DB Schema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F137FD-4BB7-A78F-3C22-7E26DF5CD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0603" y="1257116"/>
            <a:ext cx="3362794" cy="262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839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/>
          <p:cNvSpPr txBox="1">
            <a:spLocks noGrp="1"/>
          </p:cNvSpPr>
          <p:nvPr>
            <p:ph type="body" idx="1"/>
          </p:nvPr>
        </p:nvSpPr>
        <p:spPr>
          <a:xfrm>
            <a:off x="628649" y="581891"/>
            <a:ext cx="8006195" cy="4083627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3429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685800" lvl="2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/>
          </a:p>
          <a:p>
            <a:pPr marL="863600" lvl="2" indent="-76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/>
          </a:p>
          <a:p>
            <a:pPr marL="685800" lvl="2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/>
          </a:p>
          <a:p>
            <a:pPr marL="863600" lvl="2" indent="-76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/>
          </a:p>
          <a:p>
            <a:pPr marL="177800" lvl="0" indent="-381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sp>
        <p:nvSpPr>
          <p:cNvPr id="197" name="Google Shape;197;p3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198" name="Google Shape;198;p32"/>
          <p:cNvSpPr txBox="1">
            <a:spLocks noGrp="1"/>
          </p:cNvSpPr>
          <p:nvPr>
            <p:ph type="title"/>
          </p:nvPr>
        </p:nvSpPr>
        <p:spPr>
          <a:xfrm>
            <a:off x="628650" y="180325"/>
            <a:ext cx="7886700" cy="328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mbria"/>
              <a:buNone/>
            </a:pPr>
            <a:r>
              <a:rPr lang="en" sz="1800" b="1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DESIGN(S) (HARDWARE / SOFTWARE ARCHITECTURE) </a:t>
            </a:r>
            <a:endParaRPr sz="1800" b="1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9" name="Google Shape;199;p3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PHASE-1 REVIEW PRESENTATION</a:t>
            </a:r>
            <a:endParaRPr/>
          </a:p>
        </p:txBody>
      </p:sp>
      <p:pic>
        <p:nvPicPr>
          <p:cNvPr id="200" name="Google Shape;200;p32"/>
          <p:cNvPicPr preferRelativeResize="0"/>
          <p:nvPr/>
        </p:nvPicPr>
        <p:blipFill rotWithShape="1">
          <a:blip r:embed="rId3">
            <a:alphaModFix/>
          </a:blip>
          <a:srcRect l="13900" t="8877" r="22744" b="3310"/>
          <a:stretch/>
        </p:blipFill>
        <p:spPr>
          <a:xfrm>
            <a:off x="971125" y="843608"/>
            <a:ext cx="3639742" cy="351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2"/>
          <p:cNvPicPr preferRelativeResize="0"/>
          <p:nvPr/>
        </p:nvPicPr>
        <p:blipFill rotWithShape="1">
          <a:blip r:embed="rId4">
            <a:alphaModFix/>
          </a:blip>
          <a:srcRect l="5283" r="15733" b="2959"/>
          <a:stretch/>
        </p:blipFill>
        <p:spPr>
          <a:xfrm>
            <a:off x="4727433" y="876087"/>
            <a:ext cx="3639751" cy="346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F994BAA-98B7-6106-13B3-2F1B3304DC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104" y="876087"/>
            <a:ext cx="3609763" cy="34238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1C32E9-4EEE-4CAD-DE41-44D87E2F2E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7433" y="876087"/>
            <a:ext cx="3627788" cy="34238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"/>
          <p:cNvSpPr txBox="1">
            <a:spLocks noGrp="1"/>
          </p:cNvSpPr>
          <p:nvPr>
            <p:ph type="body" idx="1"/>
          </p:nvPr>
        </p:nvSpPr>
        <p:spPr>
          <a:xfrm>
            <a:off x="628649" y="581891"/>
            <a:ext cx="8006100" cy="40836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3429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685800" lvl="2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/>
          </a:p>
          <a:p>
            <a:pPr marL="863600" lvl="2" indent="-76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/>
          </a:p>
          <a:p>
            <a:pPr marL="685800" lvl="2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/>
          </a:p>
          <a:p>
            <a:pPr marL="863600" lvl="2" indent="-76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/>
          </a:p>
          <a:p>
            <a:pPr marL="13970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sp>
        <p:nvSpPr>
          <p:cNvPr id="207" name="Google Shape;207;p3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 b="1" dirty="0">
                <a:solidFill>
                  <a:srgbClr val="385623"/>
                </a:solidFill>
              </a:rPr>
              <a:t>17-02-2026</a:t>
            </a:r>
            <a:endParaRPr dirty="0"/>
          </a:p>
        </p:txBody>
      </p:sp>
      <p:sp>
        <p:nvSpPr>
          <p:cNvPr id="208" name="Google Shape;208;p3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209" name="Google Shape;209;p33"/>
          <p:cNvSpPr txBox="1">
            <a:spLocks noGrp="1"/>
          </p:cNvSpPr>
          <p:nvPr>
            <p:ph type="title"/>
          </p:nvPr>
        </p:nvSpPr>
        <p:spPr>
          <a:xfrm>
            <a:off x="628650" y="180326"/>
            <a:ext cx="78867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mbria"/>
              <a:buNone/>
            </a:pPr>
            <a:r>
              <a:rPr lang="en" sz="1800" b="1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DESIGN(S) (HARDWARE / SOFTWARE ARCHITECTURE) </a:t>
            </a:r>
            <a:endParaRPr sz="1800" b="1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0" name="Google Shape;210;p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PHASE-1  REVIEW PRESENTATION</a:t>
            </a:r>
            <a:endParaRPr/>
          </a:p>
        </p:txBody>
      </p:sp>
      <p:pic>
        <p:nvPicPr>
          <p:cNvPr id="211" name="Google Shape;21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0574" y="784862"/>
            <a:ext cx="3509749" cy="357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6FA1C00-A670-C030-4022-E120F4CFE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6885" y="784862"/>
            <a:ext cx="3503438" cy="35737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 txBox="1">
            <a:spLocks noGrp="1"/>
          </p:cNvSpPr>
          <p:nvPr>
            <p:ph type="body" idx="1"/>
          </p:nvPr>
        </p:nvSpPr>
        <p:spPr>
          <a:xfrm>
            <a:off x="628649" y="581891"/>
            <a:ext cx="8006100" cy="40836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3429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685800" lvl="2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/>
          </a:p>
          <a:p>
            <a:pPr marL="863600" lvl="2" indent="-76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/>
          </a:p>
          <a:p>
            <a:pPr marL="685800" lvl="2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/>
          </a:p>
          <a:p>
            <a:pPr marL="863600" lvl="2" indent="-76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/>
          </a:p>
          <a:p>
            <a:pPr marL="177800" lvl="0" indent="-381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sp>
        <p:nvSpPr>
          <p:cNvPr id="217" name="Google Shape;217;p3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 b="1" dirty="0">
                <a:solidFill>
                  <a:srgbClr val="385623"/>
                </a:solidFill>
              </a:rPr>
              <a:t>17-02-2026</a:t>
            </a:r>
            <a:endParaRPr dirty="0"/>
          </a:p>
        </p:txBody>
      </p:sp>
      <p:sp>
        <p:nvSpPr>
          <p:cNvPr id="218" name="Google Shape;218;p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219" name="Google Shape;219;p34"/>
          <p:cNvSpPr txBox="1">
            <a:spLocks noGrp="1"/>
          </p:cNvSpPr>
          <p:nvPr>
            <p:ph type="title"/>
          </p:nvPr>
        </p:nvSpPr>
        <p:spPr>
          <a:xfrm>
            <a:off x="628650" y="180326"/>
            <a:ext cx="78867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mbria"/>
              <a:buNone/>
            </a:pPr>
            <a:r>
              <a:rPr lang="en" sz="1800" b="1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DESIGN(S) (HARDWARE / SOFTWARE ARCHITECTURE) </a:t>
            </a:r>
            <a:endParaRPr sz="1800" b="1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0" name="Google Shape;220;p3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PHASE-1  REVIEW PRESENTATION</a:t>
            </a:r>
            <a:endParaRPr/>
          </a:p>
        </p:txBody>
      </p:sp>
      <p:pic>
        <p:nvPicPr>
          <p:cNvPr id="221" name="Google Shape;221;p34"/>
          <p:cNvPicPr preferRelativeResize="0"/>
          <p:nvPr/>
        </p:nvPicPr>
        <p:blipFill rotWithShape="1">
          <a:blip r:embed="rId3">
            <a:alphaModFix/>
          </a:blip>
          <a:srcRect l="5568" r="5568"/>
          <a:stretch/>
        </p:blipFill>
        <p:spPr>
          <a:xfrm>
            <a:off x="989400" y="928125"/>
            <a:ext cx="7284575" cy="3420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 txBox="1">
            <a:spLocks noGrp="1"/>
          </p:cNvSpPr>
          <p:nvPr>
            <p:ph type="body" idx="1"/>
          </p:nvPr>
        </p:nvSpPr>
        <p:spPr>
          <a:xfrm>
            <a:off x="628649" y="581891"/>
            <a:ext cx="8006100" cy="40836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3429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685800" lvl="2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/>
          </a:p>
          <a:p>
            <a:pPr marL="863600" lvl="2" indent="-76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/>
          </a:p>
          <a:p>
            <a:pPr marL="685800" lvl="2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/>
          </a:p>
          <a:p>
            <a:pPr marL="863600" lvl="2" indent="-76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/>
          </a:p>
          <a:p>
            <a:pPr marL="177800" lvl="0" indent="-381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sp>
        <p:nvSpPr>
          <p:cNvPr id="227" name="Google Shape;227;p3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 b="1" dirty="0">
                <a:solidFill>
                  <a:srgbClr val="385623"/>
                </a:solidFill>
              </a:rPr>
              <a:t>17-02-2026</a:t>
            </a:r>
            <a:endParaRPr dirty="0"/>
          </a:p>
        </p:txBody>
      </p:sp>
      <p:sp>
        <p:nvSpPr>
          <p:cNvPr id="228" name="Google Shape;228;p3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229" name="Google Shape;229;p35"/>
          <p:cNvSpPr txBox="1">
            <a:spLocks noGrp="1"/>
          </p:cNvSpPr>
          <p:nvPr>
            <p:ph type="title"/>
          </p:nvPr>
        </p:nvSpPr>
        <p:spPr>
          <a:xfrm>
            <a:off x="628650" y="180326"/>
            <a:ext cx="78867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mbria"/>
              <a:buNone/>
            </a:pPr>
            <a:r>
              <a:rPr lang="en" sz="1800" b="1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DESIGN(S) (HARDWARE / SOFTWARE ARCHITECTURE) </a:t>
            </a:r>
            <a:endParaRPr sz="1800" b="1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0" name="Google Shape;230;p3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PHASE-1  REVIEW PRESENTATION</a:t>
            </a:r>
            <a:endParaRPr/>
          </a:p>
        </p:txBody>
      </p:sp>
      <p:pic>
        <p:nvPicPr>
          <p:cNvPr id="231" name="Google Shape;231;p35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2662589" y="814183"/>
            <a:ext cx="3818822" cy="335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>
          <a:extLst>
            <a:ext uri="{FF2B5EF4-FFF2-40B4-BE49-F238E27FC236}">
              <a16:creationId xmlns:a16="http://schemas.microsoft.com/office/drawing/2014/main" id="{0F3B7D77-9AC1-CC42-FB94-A73668BF8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>
            <a:extLst>
              <a:ext uri="{FF2B5EF4-FFF2-40B4-BE49-F238E27FC236}">
                <a16:creationId xmlns:a16="http://schemas.microsoft.com/office/drawing/2014/main" id="{F74D5117-2C7D-D7FB-437D-B3EEE944EB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8649" y="581891"/>
            <a:ext cx="8006100" cy="40836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3429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685800" lvl="2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/>
          </a:p>
          <a:p>
            <a:pPr marL="863600" lvl="2" indent="-76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/>
          </a:p>
          <a:p>
            <a:pPr marL="685800" lvl="2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/>
          </a:p>
          <a:p>
            <a:pPr marL="863600" lvl="2" indent="-76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/>
          </a:p>
          <a:p>
            <a:pPr marL="177800" lvl="0" indent="-381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sp>
        <p:nvSpPr>
          <p:cNvPr id="227" name="Google Shape;227;p35">
            <a:extLst>
              <a:ext uri="{FF2B5EF4-FFF2-40B4-BE49-F238E27FC236}">
                <a16:creationId xmlns:a16="http://schemas.microsoft.com/office/drawing/2014/main" id="{1272E080-CF81-D911-0B7C-C42515FA1AA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 b="1" dirty="0">
                <a:solidFill>
                  <a:srgbClr val="385623"/>
                </a:solidFill>
              </a:rPr>
              <a:t>17-02-2026</a:t>
            </a:r>
            <a:endParaRPr dirty="0"/>
          </a:p>
        </p:txBody>
      </p:sp>
      <p:sp>
        <p:nvSpPr>
          <p:cNvPr id="228" name="Google Shape;228;p35">
            <a:extLst>
              <a:ext uri="{FF2B5EF4-FFF2-40B4-BE49-F238E27FC236}">
                <a16:creationId xmlns:a16="http://schemas.microsoft.com/office/drawing/2014/main" id="{BFE1E76B-CBBC-3D3F-30A7-4C8222BD842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229" name="Google Shape;229;p35">
            <a:extLst>
              <a:ext uri="{FF2B5EF4-FFF2-40B4-BE49-F238E27FC236}">
                <a16:creationId xmlns:a16="http://schemas.microsoft.com/office/drawing/2014/main" id="{7C154CA9-4F86-7633-10D5-236E9ED80E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180326"/>
            <a:ext cx="78867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mbria"/>
              <a:buNone/>
            </a:pPr>
            <a:r>
              <a:rPr lang="en" sz="1800" b="1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DESIGN(S) (HARDWARE / SOFTWARE ARCHITECTURE) </a:t>
            </a:r>
            <a:endParaRPr sz="1800" b="1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0" name="Google Shape;230;p35">
            <a:extLst>
              <a:ext uri="{FF2B5EF4-FFF2-40B4-BE49-F238E27FC236}">
                <a16:creationId xmlns:a16="http://schemas.microsoft.com/office/drawing/2014/main" id="{C0B3C576-F536-7DC2-6285-D37440768A2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PHASE-1  REVIEW PRESENTATION</a:t>
            </a:r>
            <a:endParaRPr/>
          </a:p>
        </p:txBody>
      </p:sp>
      <p:pic>
        <p:nvPicPr>
          <p:cNvPr id="231" name="Google Shape;231;p35">
            <a:extLst>
              <a:ext uri="{FF2B5EF4-FFF2-40B4-BE49-F238E27FC236}">
                <a16:creationId xmlns:a16="http://schemas.microsoft.com/office/drawing/2014/main" id="{4E686525-5A77-842C-E80B-6280DF912C7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2662589" y="833469"/>
            <a:ext cx="3818822" cy="33204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396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6"/>
          <p:cNvSpPr txBox="1">
            <a:spLocks noGrp="1"/>
          </p:cNvSpPr>
          <p:nvPr>
            <p:ph type="body" idx="1"/>
          </p:nvPr>
        </p:nvSpPr>
        <p:spPr>
          <a:xfrm>
            <a:off x="628650" y="683636"/>
            <a:ext cx="8006195" cy="4083627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800" dirty="0">
                <a:solidFill>
                  <a:srgbClr val="C00000"/>
                </a:solidFill>
              </a:rPr>
              <a:t>Journal</a:t>
            </a:r>
            <a:endParaRPr sz="1800" dirty="0"/>
          </a:p>
          <a:p>
            <a:pPr marL="12700" lvl="0" indent="0">
              <a:lnSpc>
                <a:spcPct val="113888"/>
              </a:lnSpc>
              <a:spcBef>
                <a:spcPts val="600"/>
              </a:spcBef>
              <a:buNone/>
            </a:pPr>
            <a:r>
              <a:rPr lang="en-US" sz="1600" dirty="0"/>
              <a:t>Sharma, P., &amp; Gupta, A. (2019). </a:t>
            </a:r>
            <a:r>
              <a:rPr lang="en-US" sz="1600" i="1" dirty="0"/>
              <a:t>Student Performance Analysis Using Data Analytics Techniques</a:t>
            </a:r>
            <a:r>
              <a:rPr lang="en-US" sz="1600" dirty="0"/>
              <a:t>. International Journal of Advanced Research in Computer Science</a:t>
            </a:r>
          </a:p>
          <a:p>
            <a:pPr marL="12700" lvl="0" indent="0">
              <a:lnSpc>
                <a:spcPct val="113888"/>
              </a:lnSpc>
              <a:spcBef>
                <a:spcPts val="600"/>
              </a:spcBef>
              <a:buNone/>
            </a:pPr>
            <a:r>
              <a:rPr lang="en" sz="1800" dirty="0">
                <a:solidFill>
                  <a:srgbClr val="C00000"/>
                </a:solidFill>
              </a:rPr>
              <a:t>Books</a:t>
            </a:r>
            <a:endParaRPr lang="en" sz="1800" dirty="0">
              <a:solidFill>
                <a:srgbClr val="C00000"/>
              </a:solidFill>
              <a:latin typeface="Cambria"/>
              <a:ea typeface="Cambria"/>
              <a:sym typeface="Cambria"/>
            </a:endParaRPr>
          </a:p>
          <a:p>
            <a:pPr marL="12700" lvl="0" indent="0">
              <a:lnSpc>
                <a:spcPct val="113888"/>
              </a:lnSpc>
              <a:spcBef>
                <a:spcPts val="600"/>
              </a:spcBef>
              <a:buNone/>
            </a:pPr>
            <a:r>
              <a:rPr lang="en-US" sz="1600" dirty="0"/>
              <a:t>Ethan Brown, </a:t>
            </a:r>
            <a:r>
              <a:rPr lang="en-US" sz="1600" i="1" dirty="0"/>
              <a:t>Learning React: Functional Web Development with React and Redux</a:t>
            </a:r>
            <a:r>
              <a:rPr lang="en-US" sz="1600" dirty="0"/>
              <a:t>, O’Reilly Media.</a:t>
            </a:r>
          </a:p>
          <a:p>
            <a:pPr marL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800" dirty="0">
                <a:solidFill>
                  <a:srgbClr val="C00000"/>
                </a:solidFill>
              </a:rPr>
              <a:t>Patent</a:t>
            </a:r>
            <a:endParaRPr sz="1800" dirty="0"/>
          </a:p>
          <a:p>
            <a:pPr marL="139700" indent="0">
              <a:buNone/>
            </a:pPr>
            <a:r>
              <a:rPr lang="en-US" sz="1600" dirty="0"/>
              <a:t>System and Method for Academic Performance Tracking Using Web-Based Applications – US Patent Publication.</a:t>
            </a:r>
          </a:p>
          <a:p>
            <a:pPr marL="139700" indent="0">
              <a:buNone/>
            </a:pPr>
            <a:r>
              <a:rPr lang="en-US" sz="1600" dirty="0"/>
              <a:t>Secure Role-Based Authentication System for Educational Platforms – Indian Patent Application.</a:t>
            </a: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50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800" dirty="0">
              <a:solidFill>
                <a:srgbClr val="C00000"/>
              </a:solidFill>
            </a:endParaRPr>
          </a:p>
        </p:txBody>
      </p:sp>
      <p:sp>
        <p:nvSpPr>
          <p:cNvPr id="237" name="Google Shape;237;p3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PHASE-1  REVIEW PRESENTATION</a:t>
            </a:r>
            <a:endParaRPr/>
          </a:p>
        </p:txBody>
      </p:sp>
      <p:sp>
        <p:nvSpPr>
          <p:cNvPr id="238" name="Google Shape;238;p3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239" name="Google Shape;239;p36"/>
          <p:cNvSpPr txBox="1">
            <a:spLocks noGrp="1"/>
          </p:cNvSpPr>
          <p:nvPr>
            <p:ph type="title"/>
          </p:nvPr>
        </p:nvSpPr>
        <p:spPr>
          <a:xfrm>
            <a:off x="628650" y="180325"/>
            <a:ext cx="7886700" cy="328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Cambria"/>
              <a:buNone/>
            </a:pPr>
            <a:r>
              <a:rPr lang="en" sz="1800" b="1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REFERENCES</a:t>
            </a:r>
            <a:br>
              <a:rPr lang="en" sz="1800" b="1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" sz="1400" b="1">
                <a:solidFill>
                  <a:srgbClr val="00B050"/>
                </a:solidFill>
                <a:latin typeface="Cambria"/>
                <a:ea typeface="Cambria"/>
                <a:cs typeface="Cambria"/>
                <a:sym typeface="Cambria"/>
              </a:rPr>
              <a:t>( Journal Papers/ Books / Patent)</a:t>
            </a:r>
            <a:endParaRPr sz="1400" b="1">
              <a:solidFill>
                <a:srgbClr val="00B05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4DD30-E722-41FA-A3BC-D6274C58E8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err="1"/>
              <a:t>Github</a:t>
            </a:r>
            <a:r>
              <a:rPr lang="en-IN" dirty="0"/>
              <a:t> Link : </a:t>
            </a:r>
            <a:r>
              <a:rPr lang="en-IN" dirty="0" err="1">
                <a:hlinkClick r:id="rId2"/>
              </a:rPr>
              <a:t>Github</a:t>
            </a:r>
            <a:endParaRPr lang="en-IN" dirty="0"/>
          </a:p>
          <a:p>
            <a:endParaRPr lang="en-IN" dirty="0"/>
          </a:p>
          <a:p>
            <a:r>
              <a:rPr lang="en-IN" dirty="0"/>
              <a:t>Figma Link :</a:t>
            </a:r>
            <a:r>
              <a:rPr lang="en-IN" dirty="0">
                <a:hlinkClick r:id="rId3"/>
              </a:rPr>
              <a:t>Figma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29288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562</Words>
  <Application>Microsoft Office PowerPoint</Application>
  <PresentationFormat>On-screen Show (16:9)</PresentationFormat>
  <Paragraphs>116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Cambria</vt:lpstr>
      <vt:lpstr>Times New Roman</vt:lpstr>
      <vt:lpstr>Simple Light</vt:lpstr>
      <vt:lpstr>Office Theme</vt:lpstr>
      <vt:lpstr>Academic Year 2025 - 26   MINI PROJECT  Phase - 1 Review </vt:lpstr>
      <vt:lpstr>AIM &amp; OBJECTIVES OF THE PROJECT  (Problem Statement)</vt:lpstr>
      <vt:lpstr>LITERATURE SURVEY </vt:lpstr>
      <vt:lpstr>CHOICE OF COMPONENTS / MODULES /  METHODS / TECHNIQUES EQUIPMENT USED FOR PROJECT DEVELOPMENT</vt:lpstr>
      <vt:lpstr>PROPOSED METHODOLOGY</vt:lpstr>
      <vt:lpstr>DB Schema</vt:lpstr>
      <vt:lpstr>DESIGN(S) (HARDWARE / SOFTWARE ARCHITECTURE) </vt:lpstr>
      <vt:lpstr>DESIGN(S) (HARDWARE / SOFTWARE ARCHITECTURE) </vt:lpstr>
      <vt:lpstr>DESIGN(S) (HARDWARE / SOFTWARE ARCHITECTURE) </vt:lpstr>
      <vt:lpstr>DESIGN(S) (HARDWARE / SOFTWARE ARCHITECTURE) </vt:lpstr>
      <vt:lpstr>DESIGN(S) (HARDWARE / SOFTWARE ARCHITECTURE) </vt:lpstr>
      <vt:lpstr>REFERENCES ( Journal Papers/ Books / Patent)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Naveenprabhu S</dc:creator>
  <cp:lastModifiedBy>NAVEEN PRABHU</cp:lastModifiedBy>
  <cp:revision>6</cp:revision>
  <dcterms:modified xsi:type="dcterms:W3CDTF">2026-02-17T08:04:08Z</dcterms:modified>
</cp:coreProperties>
</file>